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F86CB-333B-8FB2-C358-3738F3C50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B8B82E-1E05-4399-913E-6A0AC1C7FC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292D1-A0DC-6AF6-07B8-9B33FDB6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50153-3312-0FB5-2917-147DA7D09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F780-2A52-D1E1-C8CA-91D252E0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2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E6F5C-C30D-50E9-A610-4C59AD374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C8B2A-371A-0A7F-8E6C-34E20D31B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D0160-9027-FF48-3C89-0F8FC0EEE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42A92-1DBA-194B-5AF5-034E6A92A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EF368-78C6-8861-996B-4F5346088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80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C5E7B-D7F6-FA16-3D94-063A78B0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892E7-0976-DFD2-7350-325A70DB1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BB08B-EC5D-B7D6-F8A4-CF59E5AD9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2A1DB-4631-0155-68C5-FBF9DBB15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6CA91-39BF-749A-C83B-E0377F027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66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07ED4-46A9-F8B8-0234-41DC8A923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16E4-6C6B-62C2-4D2C-2234BF4B29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2A821-EBF6-E85D-4798-042A9DE4D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02D1B1-F0BD-9F5C-45CA-4226E46F5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BD6271-51F7-9460-B2E9-104408964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F5B3F2-B69D-848A-7CFB-1D08E6C12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6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510B4-D508-4006-97A4-C38B06694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4D2F7-0352-9767-4743-934CDF6A4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B5CB9-6CF4-04B9-0EA9-006B5DC006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EAA30D-9F96-7713-65E5-985C29F26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BD20B1-07D3-5F5F-E96B-FD28B51B80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F74E6C-9A69-0D79-CEE2-347C837C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4FE945-FD6B-D307-EB40-954FDD5EE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856A22-B3EA-15A0-AD5B-DCB986C3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625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56511-F7B9-1171-46E1-ECC9EC32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3675C-F156-C9FC-BE74-53B2F765B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5F1989-FD24-566C-9F6E-035000D5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10AB7-3524-0D4F-BE18-B96D8AA4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632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2D66D6-EFB3-5745-3417-14C7E4EEE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B74B70-2240-4775-7D82-D141DB31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CA6E5-F6D9-7D38-7E7B-DA5AE45A1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30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889C-5685-0243-0D27-C8348DE9E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ABE66-4A50-48B2-FF59-57036A2BC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CDF1D-6A13-2B8D-FA43-B30C11CE2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72F6E-849B-35C5-6D91-3B9F9ED18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3A420-2040-DF0D-EC20-DC07DC758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BD25F-CD01-B833-39F9-C963C41B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50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B044C-4890-8943-8C23-FF23B39F1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136EA-DE16-6556-AB94-909D18C64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A8DBC-2302-646E-1C24-FE1FBD0C9C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64AF8-92EC-CD2E-A027-5B6764A6A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B07D70-C908-8EE2-3D05-A7EBB71D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52EFF8-77C1-7BF7-2C82-9629371D4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16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70D41-2A10-BC21-31E2-E85DF84D4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35ED80-31FC-6FF0-E4BF-DE45E9D69B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BC5FE-E2F8-DDB9-6178-45CFB490D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833D1-210E-1A75-F3F3-55FB40D78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5872F-4F59-ACB3-D1CD-DFCA4D654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3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1533D-D006-5040-0FC1-D95B9C91DA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8960D6-AD3D-DE3E-B74C-1AA6B77A9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7369F-7DAE-3A9F-7596-100335313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A2CE3-3002-0214-4320-E9EF88A99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E67CD-05C7-6683-32B1-BF9325520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641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C07E5C-E207-DDCE-76A2-817DF89C1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4B566-E5FE-E633-7065-C055A814F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1BB8B-0E47-50A9-2BC2-B8079552B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37F6D-0DCE-498B-A368-35D31DF9C745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5EE1B-AC9F-949C-8698-E41DB913E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75982-F4BA-64E3-59A7-9CB601A59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70CBB-D39F-48DD-920F-58E336F831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87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F16F-AC69-96A8-5748-05E8CB107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964" y="73892"/>
            <a:ext cx="3519054" cy="563418"/>
          </a:xfrm>
        </p:spPr>
        <p:txBody>
          <a:bodyPr>
            <a:noAutofit/>
          </a:bodyPr>
          <a:lstStyle/>
          <a:p>
            <a:r>
              <a:rPr lang="en-US" sz="1600" b="1" i="0" dirty="0">
                <a:effectLst/>
                <a:latin typeface="Inter"/>
              </a:rPr>
              <a:t>Current State Assessment, Bottlenecks</a:t>
            </a:r>
            <a:br>
              <a:rPr lang="en-US" sz="1600" b="1" i="0" dirty="0">
                <a:effectLst/>
                <a:latin typeface="Inter"/>
              </a:rPr>
            </a:br>
            <a:endParaRPr lang="en-US" sz="16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5385E8-0B28-2DCE-79FF-A0487E520A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4689669"/>
              </p:ext>
            </p:extLst>
          </p:nvPr>
        </p:nvGraphicFramePr>
        <p:xfrm>
          <a:off x="314036" y="471056"/>
          <a:ext cx="10769600" cy="22393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8104">
                  <a:extLst>
                    <a:ext uri="{9D8B030D-6E8A-4147-A177-3AD203B41FA5}">
                      <a16:colId xmlns:a16="http://schemas.microsoft.com/office/drawing/2014/main" val="909174465"/>
                    </a:ext>
                  </a:extLst>
                </a:gridCol>
                <a:gridCol w="4800493">
                  <a:extLst>
                    <a:ext uri="{9D8B030D-6E8A-4147-A177-3AD203B41FA5}">
                      <a16:colId xmlns:a16="http://schemas.microsoft.com/office/drawing/2014/main" val="120503471"/>
                    </a:ext>
                  </a:extLst>
                </a:gridCol>
                <a:gridCol w="4456720">
                  <a:extLst>
                    <a:ext uri="{9D8B030D-6E8A-4147-A177-3AD203B41FA5}">
                      <a16:colId xmlns:a16="http://schemas.microsoft.com/office/drawing/2014/main" val="3517141008"/>
                    </a:ext>
                  </a:extLst>
                </a:gridCol>
                <a:gridCol w="1004283">
                  <a:extLst>
                    <a:ext uri="{9D8B030D-6E8A-4147-A177-3AD203B41FA5}">
                      <a16:colId xmlns:a16="http://schemas.microsoft.com/office/drawing/2014/main" val="572855446"/>
                    </a:ext>
                  </a:extLst>
                </a:gridCol>
              </a:tblGrid>
              <a:tr h="2003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#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Bottleneck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Impact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Severity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2927440265"/>
                  </a:ext>
                </a:extLst>
              </a:tr>
              <a:tr h="4971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1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Single-threaded BW5 process engine — no native parallel execution per process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Limits throughput to sequential record processing; cannot exploit multi-core CPUs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🔴 Critical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1188900021"/>
                  </a:ext>
                </a:extLst>
              </a:tr>
              <a:tr h="4971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2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No horizontal scaling in BW5 — must clone entire engine instances manually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Adding capacity requires manual deployment, no auto-scaling or container support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🟠 High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800044237"/>
                  </a:ext>
                </a:extLst>
              </a:tr>
              <a:tr h="4971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3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XML-heavy processing (SOAP) — high memory &amp; CPU overhead for large payloads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Parsing 1M records in XML causes heap exhaustion, GC pauses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🟠 High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586326421"/>
                  </a:ext>
                </a:extLst>
              </a:tr>
              <a:tr h="4971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</a:rPr>
                        <a:t>4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Monitoring &amp; observability gaps — BW5 Admin lacks real-time dashboards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No proactive alerting for SLA breaches or throughput degradation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</a:rPr>
                        <a:t>🟡 Medium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25400" marB="25400"/>
                </a:tc>
                <a:extLst>
                  <a:ext uri="{0D108BD9-81ED-4DB2-BD59-A6C34878D82A}">
                    <a16:rowId xmlns:a16="http://schemas.microsoft.com/office/drawing/2014/main" val="390500935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50F34FF-526B-6D0E-565B-DE13E6105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6877792"/>
              </p:ext>
            </p:extLst>
          </p:nvPr>
        </p:nvGraphicFramePr>
        <p:xfrm>
          <a:off x="314036" y="3117484"/>
          <a:ext cx="10769601" cy="32694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2961">
                  <a:extLst>
                    <a:ext uri="{9D8B030D-6E8A-4147-A177-3AD203B41FA5}">
                      <a16:colId xmlns:a16="http://schemas.microsoft.com/office/drawing/2014/main" val="4175218344"/>
                    </a:ext>
                  </a:extLst>
                </a:gridCol>
                <a:gridCol w="3459272">
                  <a:extLst>
                    <a:ext uri="{9D8B030D-6E8A-4147-A177-3AD203B41FA5}">
                      <a16:colId xmlns:a16="http://schemas.microsoft.com/office/drawing/2014/main" val="2487117776"/>
                    </a:ext>
                  </a:extLst>
                </a:gridCol>
                <a:gridCol w="5407368">
                  <a:extLst>
                    <a:ext uri="{9D8B030D-6E8A-4147-A177-3AD203B41FA5}">
                      <a16:colId xmlns:a16="http://schemas.microsoft.com/office/drawing/2014/main" val="2382494504"/>
                    </a:ext>
                  </a:extLst>
                </a:gridCol>
              </a:tblGrid>
              <a:tr h="1596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Dimension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TIBCO BW 5.x (Current)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TIBCO BW 6.x / CE (Proposed)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3100450652"/>
                  </a:ext>
                </a:extLst>
              </a:tr>
              <a:tr h="1596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Architecture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Monolithic process engine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OSGi-based microservices, modular AppNodes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2607716909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Scalability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Vertical only (bigger server)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Horizontal — multiple AppNodes per AppSpace; container-ready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769298218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Parallel Processing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Limited; manual engine cloning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Native multi-threaded job execution with configurable thread pools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536954348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Deployment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Manual EAR deployment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CLI/API-driven; supports Docker, K8s on-prem (OpenShift/Rancher)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2745054920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Memory Management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Older JVM tuning, prone to heap issues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Optimized JVM with G1GC; configurable per AppNode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4237843100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REST/JSON Support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Plugin-based, not native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First-class REST/JSON; reduced parsing overhead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4059830314"/>
                  </a:ext>
                </a:extLst>
              </a:tr>
              <a:tr h="1596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Monitoring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BW Admin (basic)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TIBCO Administrator + EMS metrics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1786771649"/>
                  </a:ext>
                </a:extLst>
              </a:tr>
              <a:tr h="1596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Bulk API Support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Custom palettes needed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Enhanced Salesforce palette with native Bulk API 2.0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3704361462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License Cost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Legacy license (may still be valid)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New license required; CE (Community Edition) is free but limited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3961002809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Migration Effort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N/A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~40–60% processes can be auto-migrated; rest need manual refactoring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1946457676"/>
                  </a:ext>
                </a:extLst>
              </a:tr>
              <a:tr h="29349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Vendor Support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End-of-extended-support approaching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Actively maintained; regular patches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342" marR="35342" marT="23561" marB="23561"/>
                </a:tc>
                <a:extLst>
                  <a:ext uri="{0D108BD9-81ED-4DB2-BD59-A6C34878D82A}">
                    <a16:rowId xmlns:a16="http://schemas.microsoft.com/office/drawing/2014/main" val="518572667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F5E17EB6-A70B-4D80-4A95-21BA1336E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508" y="412548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961945-F2CE-93CD-9B36-4909F0407DDD}"/>
              </a:ext>
            </a:extLst>
          </p:cNvPr>
          <p:cNvSpPr txBox="1"/>
          <p:nvPr/>
        </p:nvSpPr>
        <p:spPr>
          <a:xfrm>
            <a:off x="314036" y="2738230"/>
            <a:ext cx="4738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i="0" dirty="0">
                <a:effectLst/>
                <a:latin typeface="Inter"/>
              </a:rPr>
              <a:t>Technology Comparison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75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7911-9828-DCEC-9175-4B2A85DF1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218382" cy="567748"/>
          </a:xfrm>
        </p:spPr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Advantages of BW6 for This Use Case:</a:t>
            </a:r>
            <a:endParaRPr lang="en-US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3FD27-16D0-1D3C-9926-1F4B39198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Can deploy 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8–16 App Nodes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across clustered on-prem servers for true horizontal scale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Native 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Bulk API 2.0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connector reduces Salesforce API call consumption by  90%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JSON over REST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reduces payload size by  40% versus SOAP/XML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Built-in 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fault tolerance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with App Space-level failover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Key Disadvantages: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Requires </a:t>
            </a: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new licensing investment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8905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C79B-1A02-445E-8B6A-EBB8E3D67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511"/>
          </a:xfrm>
        </p:spPr>
        <p:txBody>
          <a:bodyPr/>
          <a:lstStyle/>
          <a:p>
            <a:r>
              <a:rPr lang="en-US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Proposed Scalability Solution, Execution Roadmap &amp; Next Steps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20AEB5-E1F1-6852-C348-1D2FBFBF64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9310172"/>
              </p:ext>
            </p:extLst>
          </p:nvPr>
        </p:nvGraphicFramePr>
        <p:xfrm>
          <a:off x="838199" y="1099128"/>
          <a:ext cx="10716491" cy="54956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6898">
                  <a:extLst>
                    <a:ext uri="{9D8B030D-6E8A-4147-A177-3AD203B41FA5}">
                      <a16:colId xmlns:a16="http://schemas.microsoft.com/office/drawing/2014/main" val="1687594949"/>
                    </a:ext>
                  </a:extLst>
                </a:gridCol>
                <a:gridCol w="6640675">
                  <a:extLst>
                    <a:ext uri="{9D8B030D-6E8A-4147-A177-3AD203B41FA5}">
                      <a16:colId xmlns:a16="http://schemas.microsoft.com/office/drawing/2014/main" val="2094441767"/>
                    </a:ext>
                  </a:extLst>
                </a:gridCol>
                <a:gridCol w="1029441">
                  <a:extLst>
                    <a:ext uri="{9D8B030D-6E8A-4147-A177-3AD203B41FA5}">
                      <a16:colId xmlns:a16="http://schemas.microsoft.com/office/drawing/2014/main" val="242234199"/>
                    </a:ext>
                  </a:extLst>
                </a:gridCol>
                <a:gridCol w="2179477">
                  <a:extLst>
                    <a:ext uri="{9D8B030D-6E8A-4147-A177-3AD203B41FA5}">
                      <a16:colId xmlns:a16="http://schemas.microsoft.com/office/drawing/2014/main" val="2405753991"/>
                    </a:ext>
                  </a:extLst>
                </a:gridCol>
              </a:tblGrid>
              <a:tr h="2906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Task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Duration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Deliverable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3485326067"/>
                  </a:ext>
                </a:extLst>
              </a:tr>
              <a:tr h="53454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0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Discovery &amp; Proposal Approval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1–2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2273850110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1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Detailed Current-State Audit — Inventory all BW5 processes, map data flows (</a:t>
                      </a:r>
                      <a:r>
                        <a:rPr lang="en-US" sz="1100" kern="100" dirty="0" err="1">
                          <a:effectLst/>
                        </a:rPr>
                        <a:t>Unity→Luna</a:t>
                      </a:r>
                      <a:r>
                        <a:rPr lang="en-US" sz="1100" kern="100" dirty="0">
                          <a:effectLst/>
                        </a:rPr>
                        <a:t>, </a:t>
                      </a:r>
                      <a:r>
                        <a:rPr lang="en-US" sz="1100" kern="100" dirty="0" err="1">
                          <a:effectLst/>
                        </a:rPr>
                        <a:t>Luna→Unity</a:t>
                      </a:r>
                      <a:r>
                        <a:rPr lang="en-US" sz="1100" kern="100" dirty="0">
                          <a:effectLst/>
                        </a:rPr>
                        <a:t>), document API call volumes, identify all Salesforce objects in scope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3–4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Integration Inventory Document, API Usage Report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4207241375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Infrastructure Provisioning — Procure/allocate 3–4 on-prem servers (min 16 cores, 64GB RAM each); install BW6 runtime, TIBCO EMS, configure App Spaces &amp; App Nodes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5–6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Server Build Sheet, BW6 Environment Ready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534981163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3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BW5 → BW6 Migration — Auto-migrate eligible processes; manually refactor complex ones; implement Bulk API 2.0 connectors; build JSON-based REST services replacing SOAP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7–12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Migrated BW6 Processes (DEV)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3684347297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4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Scalability Engineering — Configure multi-AppNode parallelism; implement TIBCO EMS queuing for decoupled ETL; build retry/dead-letter queue logic; tune JVM heap &amp; thread pools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10–13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Scalable Architecture (DEV)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4100016307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5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Error Handling &amp; Monitoring — Implement circuit breakers, configurable retry policies; deploy Prometheus exporters; build Grafana dashboards for throughput, error rate, latency SLAs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12–14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Monitoring &amp; Alerting Framework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838948063"/>
                  </a:ext>
                </a:extLst>
              </a:tr>
              <a:tr h="7784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Phase 6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Performance Testing &amp; POC Validation — Load test with 1M synthetic records; validate end-to-end throughput; stress test failure scenarios; measure Salesforce API consumption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>
                          <a:effectLst/>
                        </a:rPr>
                        <a:t>Week 14–16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100" kern="100" dirty="0">
                          <a:effectLst/>
                        </a:rPr>
                        <a:t>Performance Test Report, POC Sign-Off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979" marR="34979" marT="23319" marB="23319"/>
                </a:tc>
                <a:extLst>
                  <a:ext uri="{0D108BD9-81ED-4DB2-BD59-A6C34878D82A}">
                    <a16:rowId xmlns:a16="http://schemas.microsoft.com/office/drawing/2014/main" val="10156936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690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615</Words>
  <Application>Microsoft Office PowerPoint</Application>
  <PresentationFormat>Widescreen</PresentationFormat>
  <Paragraphs>99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Inter</vt:lpstr>
      <vt:lpstr>Symbol</vt:lpstr>
      <vt:lpstr>Office Theme</vt:lpstr>
      <vt:lpstr>Current State Assessment, Bottlenecks </vt:lpstr>
      <vt:lpstr>Key Advantages of BW6 for This Use Case:</vt:lpstr>
      <vt:lpstr>Proposed Scalability Solution, Execution Roadmap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Nageswara Rao Moravaneni</dc:creator>
  <cp:lastModifiedBy>Nageswara Rao Moravaneni</cp:lastModifiedBy>
  <cp:revision>1</cp:revision>
  <dcterms:created xsi:type="dcterms:W3CDTF">2026-03-27T05:13:21Z</dcterms:created>
  <dcterms:modified xsi:type="dcterms:W3CDTF">2026-03-27T05:26:13Z</dcterms:modified>
</cp:coreProperties>
</file>