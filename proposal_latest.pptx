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86CB-333B-8FB2-C358-3738F3C50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8B82E-1E05-4399-913E-6A0AC1C7F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92D1-A0DC-6AF6-07B8-9B33FDB6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0153-3312-0FB5-2917-147DA7D0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F780-2A52-D1E1-C8CA-91D252E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2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6F5C-C30D-50E9-A610-4C59AD37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8B2A-371A-0A7F-8E6C-34E20D31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D0160-9027-FF48-3C89-0F8FC0EE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2A92-1DBA-194B-5AF5-034E6A92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F368-78C6-8861-996B-4F53460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8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5E7B-D7F6-FA16-3D94-063A78B0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92E7-0976-DFD2-7350-325A70DB1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B08B-EC5D-B7D6-F8A4-CF59E5AD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A1DB-4631-0155-68C5-FBF9DBB1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CA91-39BF-749A-C83B-E0377F02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7ED4-46A9-F8B8-0234-41DC8A92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16E4-6C6B-62C2-4D2C-2234BF4B2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2A821-EBF6-E85D-4798-042A9DE4D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2D1B1-F0BD-9F5C-45CA-4226E46F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D6271-51F7-9460-B2E9-10440896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5B3F2-B69D-848A-7CFB-1D08E6C1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6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10B4-D508-4006-97A4-C38B0669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4D2F7-0352-9767-4743-934CDF6A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B5CB9-6CF4-04B9-0EA9-006B5DC00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AA30D-9F96-7713-65E5-985C29F26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D20B1-07D3-5F5F-E96B-FD28B51B8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74E6C-9A69-0D79-CEE2-347C837C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FE945-FD6B-D307-EB40-954FDD5E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56A22-B3EA-15A0-AD5B-DCB986C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2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6511-F7B9-1171-46E1-ECC9EC32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3675C-F156-C9FC-BE74-53B2F765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F1989-FD24-566C-9F6E-035000D5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10AB7-3524-0D4F-BE18-B96D8AA4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3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D66D6-EFB3-5745-3417-14C7E4EE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74B70-2240-4775-7D82-D141DB31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CA6E5-F6D9-7D38-7E7B-DA5AE45A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889C-5685-0243-0D27-C8348DE9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BE66-4A50-48B2-FF59-57036A2B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CDF1D-6A13-2B8D-FA43-B30C11CE2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72F6E-849B-35C5-6D91-3B9F9ED1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3A420-2040-DF0D-EC20-DC07DC75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D25F-CD01-B833-39F9-C963C41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5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044C-4890-8943-8C23-FF23B39F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136EA-DE16-6556-AB94-909D18C64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A8DBC-2302-646E-1C24-FE1FBD0C9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64AF8-92EC-CD2E-A027-5B6764A6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07D70-C908-8EE2-3D05-A7EBB71D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2EFF8-77C1-7BF7-2C82-9629371D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0D41-2A10-BC21-31E2-E85DF84D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5ED80-31FC-6FF0-E4BF-DE45E9D69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C5FE-E2F8-DDB9-6178-45CFB490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33D1-210E-1A75-F3F3-55FB40D7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872F-4F59-ACB3-D1CD-DFCA4D65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1533D-D006-5040-0FC1-D95B9C91D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960D6-AD3D-DE3E-B74C-1AA6B77A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369F-7DAE-3A9F-7596-10033531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A2CE3-3002-0214-4320-E9EF88A9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67CD-05C7-6683-32B1-BF932552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07E5C-E207-DDCE-76A2-817DF89C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4B566-E5FE-E633-7065-C055A814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BB8B-0E47-50A9-2BC2-B8079552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EE1B-AC9F-949C-8698-E41DB913E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75982-F4BA-64E3-59A7-9CB601A59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F16F-AC69-96A8-5748-05E8CB107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64" y="73892"/>
            <a:ext cx="3519054" cy="563418"/>
          </a:xfrm>
        </p:spPr>
        <p:txBody>
          <a:bodyPr>
            <a:noAutofit/>
          </a:bodyPr>
          <a:lstStyle/>
          <a:p>
            <a:r>
              <a:rPr lang="en-US" sz="1600" b="1" i="0" dirty="0">
                <a:effectLst/>
                <a:latin typeface="Inter"/>
              </a:rPr>
              <a:t>Current State Assessment, Bottlenecks</a:t>
            </a:r>
            <a:br>
              <a:rPr lang="en-US" sz="1600" b="1" i="0" dirty="0">
                <a:effectLst/>
                <a:latin typeface="Inter"/>
              </a:rPr>
            </a:br>
            <a:endParaRPr lang="en-US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5385E8-0B28-2DCE-79FF-A0487E520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89669"/>
              </p:ext>
            </p:extLst>
          </p:nvPr>
        </p:nvGraphicFramePr>
        <p:xfrm>
          <a:off x="314036" y="471056"/>
          <a:ext cx="10769600" cy="2239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8104">
                  <a:extLst>
                    <a:ext uri="{9D8B030D-6E8A-4147-A177-3AD203B41FA5}">
                      <a16:colId xmlns:a16="http://schemas.microsoft.com/office/drawing/2014/main" val="909174465"/>
                    </a:ext>
                  </a:extLst>
                </a:gridCol>
                <a:gridCol w="4800493">
                  <a:extLst>
                    <a:ext uri="{9D8B030D-6E8A-4147-A177-3AD203B41FA5}">
                      <a16:colId xmlns:a16="http://schemas.microsoft.com/office/drawing/2014/main" val="120503471"/>
                    </a:ext>
                  </a:extLst>
                </a:gridCol>
                <a:gridCol w="4456720">
                  <a:extLst>
                    <a:ext uri="{9D8B030D-6E8A-4147-A177-3AD203B41FA5}">
                      <a16:colId xmlns:a16="http://schemas.microsoft.com/office/drawing/2014/main" val="3517141008"/>
                    </a:ext>
                  </a:extLst>
                </a:gridCol>
                <a:gridCol w="1004283">
                  <a:extLst>
                    <a:ext uri="{9D8B030D-6E8A-4147-A177-3AD203B41FA5}">
                      <a16:colId xmlns:a16="http://schemas.microsoft.com/office/drawing/2014/main" val="572855446"/>
                    </a:ext>
                  </a:extLst>
                </a:gridCol>
              </a:tblGrid>
              <a:tr h="2003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#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Bottleneck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Impact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Severity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27440265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Single-threaded BW5 process engine — no native parallel execution per process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Limits throughput to sequential record processing; cannot exploit multi-core CPUs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🔴 Critical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889000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 horizontal scaling in BW5 — must clone entire engine instances manually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Adding capacity requires manual deployment, no auto-scaling or container support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00044237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XML-heavy processing (SOAP) — high memory &amp; CPU overhead for large payloads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Parsing 1M records in XML causes heap exhaustion, GC pauses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863264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Monitoring &amp; observability gaps — BW5 Admin lacks real-time dashboards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 proactive alerting for SLA breaches or throughput degradation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🟡 Medium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050093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0F34FF-526B-6D0E-565B-DE13E6105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877792"/>
              </p:ext>
            </p:extLst>
          </p:nvPr>
        </p:nvGraphicFramePr>
        <p:xfrm>
          <a:off x="314036" y="3117484"/>
          <a:ext cx="10769601" cy="3269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2961">
                  <a:extLst>
                    <a:ext uri="{9D8B030D-6E8A-4147-A177-3AD203B41FA5}">
                      <a16:colId xmlns:a16="http://schemas.microsoft.com/office/drawing/2014/main" val="4175218344"/>
                    </a:ext>
                  </a:extLst>
                </a:gridCol>
                <a:gridCol w="3459272">
                  <a:extLst>
                    <a:ext uri="{9D8B030D-6E8A-4147-A177-3AD203B41FA5}">
                      <a16:colId xmlns:a16="http://schemas.microsoft.com/office/drawing/2014/main" val="2487117776"/>
                    </a:ext>
                  </a:extLst>
                </a:gridCol>
                <a:gridCol w="5407368">
                  <a:extLst>
                    <a:ext uri="{9D8B030D-6E8A-4147-A177-3AD203B41FA5}">
                      <a16:colId xmlns:a16="http://schemas.microsoft.com/office/drawing/2014/main" val="2382494504"/>
                    </a:ext>
                  </a:extLst>
                </a:gridCol>
              </a:tblGrid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Dimension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5.x (Current)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6.x / CE (Proposed)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100450652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Architecture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Monolithic process engine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OSGi-based microservices, modular AppNodes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6077169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Vertical only (bigger server)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Horizontal — multiple AppNodes per AppSpace; container-ready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76929821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Parallel Processing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Limited; manual engine cloning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Native multi-threaded job execution with configurable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3695434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Manual EAR 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CLI/API-driven; supports Docker, K8s on-prem (OpenShift/Rancher)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74505492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Memory Management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Older JVM tuning, prone to heap issues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Optimized JVM with G1GC; configurable per AppNode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23784310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REST/JSON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Plugin-based, not native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First-class REST/JSON; reduced parsing overhead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059830314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BW Admin (basic)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Administrator + EMS metrics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786771649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Bulk API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Custom palettes needed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Enhanced Salesforce palette with native Bulk API 2.0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704361462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License Cost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Legacy license (may still be valid)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New license required; CE (Community Edition) is free but limited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9610028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Migration Effort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N/A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~40–60% processes can be auto-migrated; rest need manual refactoring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946457676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Vendor Support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End-of-extended-support approaching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Actively maintained; regular patches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1857266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5E17EB6-A70B-4D80-4A95-21BA1336E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08" y="41254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61945-F2CE-93CD-9B36-4909F0407DDD}"/>
              </a:ext>
            </a:extLst>
          </p:cNvPr>
          <p:cNvSpPr txBox="1"/>
          <p:nvPr/>
        </p:nvSpPr>
        <p:spPr>
          <a:xfrm>
            <a:off x="314036" y="2738230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effectLst/>
                <a:latin typeface="Inter"/>
              </a:rPr>
              <a:t>Technology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5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5998-D4F2-5857-8D8D-0057BA0B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E5203D-9BDF-E542-F7F8-E9FFFA208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859141"/>
              </p:ext>
            </p:extLst>
          </p:nvPr>
        </p:nvGraphicFramePr>
        <p:xfrm>
          <a:off x="1088136" y="1674074"/>
          <a:ext cx="9094089" cy="4453456"/>
        </p:xfrm>
        <a:graphic>
          <a:graphicData uri="http://schemas.openxmlformats.org/drawingml/2006/table">
            <a:tbl>
              <a:tblPr/>
              <a:tblGrid>
                <a:gridCol w="1048022">
                  <a:extLst>
                    <a:ext uri="{9D8B030D-6E8A-4147-A177-3AD203B41FA5}">
                      <a16:colId xmlns:a16="http://schemas.microsoft.com/office/drawing/2014/main" val="2718593450"/>
                    </a:ext>
                  </a:extLst>
                </a:gridCol>
                <a:gridCol w="1473693">
                  <a:extLst>
                    <a:ext uri="{9D8B030D-6E8A-4147-A177-3AD203B41FA5}">
                      <a16:colId xmlns:a16="http://schemas.microsoft.com/office/drawing/2014/main" val="164054801"/>
                    </a:ext>
                  </a:extLst>
                </a:gridCol>
                <a:gridCol w="2371591">
                  <a:extLst>
                    <a:ext uri="{9D8B030D-6E8A-4147-A177-3AD203B41FA5}">
                      <a16:colId xmlns:a16="http://schemas.microsoft.com/office/drawing/2014/main" val="509385659"/>
                    </a:ext>
                  </a:extLst>
                </a:gridCol>
                <a:gridCol w="4200783">
                  <a:extLst>
                    <a:ext uri="{9D8B030D-6E8A-4147-A177-3AD203B41FA5}">
                      <a16:colId xmlns:a16="http://schemas.microsoft.com/office/drawing/2014/main" val="2000348150"/>
                    </a:ext>
                  </a:extLst>
                </a:gridCol>
              </a:tblGrid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TIBCO BW 5.x (Current)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TIBCO BW 6.x / CE (Proposed)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Azure Integration Services (Alternative)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603891"/>
                  </a:ext>
                </a:extLst>
              </a:tr>
              <a:tr h="47159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Monolithic process engine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OSGi-based microservices, modular AppNodes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Cloud-native, serverless + PaaS; Logic Apps as orchestrator, Functions for code, API Management for APIs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45119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Vertical only (bigger server)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Horizontal — multiple AppNodes per AppSpace; container-ready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Horizontal auto-scaling built-in; Azure handles scaling via Consumption/Standard plans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34842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Parallel Processing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Limited; manual engine cloning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multi-threaded job execution with configurable thread pools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Parallel branches in Logic Apps; concurrency controls in Functions; built-in async patterns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701724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Deployment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Manual EAR deployment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CLI/API-driven; supports Docker, K8s on-prem (OpenShift/Rancher)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ARM templates, Bicep, GitHub Actions, Azure DevOps; native CI/CD pipelines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61323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Memory Management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Older JVM tuning, prone to heap issues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Optimized JVM with G1GC; configurable per AppNode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Managed by Azure (serverless); no JVM tuning needed; Consumption = pay-per-execution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6676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REST/JSON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Plugin-based, not native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First-class REST/JSON; reduced parsing overhead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JSON parsing; 1000+ connectors; built-in JSON transformations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84336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Monitoring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BW Admin (basic)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TIBCO Administrator + EMS metrics + Prometheus/Grafana integration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Azure Application Insights, Log Analytics, Azure Monitor; built-in dashboards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33694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Bulk API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Custom palettes needed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Enhanced Salesforce palette with native Bulk API 2.0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connectors for Salesforce, Dataverse, SAP, SQL; Data Factory for ETL/Bulk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93587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License Cost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Legacy license (may still be valid)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New license required; CE (Community Edition) is free but limited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Pay-per-use (Consumption) or Fixed (Standard); Opex vs Capex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93110"/>
                  </a:ext>
                </a:extLst>
              </a:tr>
              <a:tr h="47159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Migration Effort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~40–60% processes can be auto-migrated; rest need manual refactoring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Rewrite required; Logic Apps workflow-based; ~30–50% reuse of integration logic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553479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Vendor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End-of-extended-support approaching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Actively maintained; regular patches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</a:rPr>
                        <a:t>Microsoft enterprise support; SLA guarantees; 99.9%+ uptime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6652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4AAC7FA-2758-C99B-EAAF-604448EB7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47669" y="-109954"/>
            <a:ext cx="1623966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cs typeface="Calibri" panose="020F0502020204030204" pitchFamily="34" charset="0"/>
              </a:rPr>
              <a:t>BW5 vs BW6 vs Azure Integration Services Comparison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604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7911-9828-DCEC-9175-4B2A85DF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18382" cy="56774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Advantages of BW6 for This Use Case: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FD27-16D0-1D3C-9926-1F4B3919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deploy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8–16 App Nodes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across clustered on-prem servers for true horizontal scale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Native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Bulk API 2.0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connector reduces Salesforce API call consumption by  90%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JSON over REST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reduces payload size by  40% versus SOAP/XML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Built-in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tolerance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with App Space-level failover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Disadvantages: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Requires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licensing investment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0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C79B-1A02-445E-8B6A-EBB8E3D6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511"/>
          </a:xfrm>
        </p:spPr>
        <p:txBody>
          <a:bodyPr/>
          <a:lstStyle/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Scalability Solution, Execution Roadmap &amp; Next Steps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20AEB5-E1F1-6852-C348-1D2FBFBF6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310172"/>
              </p:ext>
            </p:extLst>
          </p:nvPr>
        </p:nvGraphicFramePr>
        <p:xfrm>
          <a:off x="838199" y="1099128"/>
          <a:ext cx="10716491" cy="5495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6898">
                  <a:extLst>
                    <a:ext uri="{9D8B030D-6E8A-4147-A177-3AD203B41FA5}">
                      <a16:colId xmlns:a16="http://schemas.microsoft.com/office/drawing/2014/main" val="1687594949"/>
                    </a:ext>
                  </a:extLst>
                </a:gridCol>
                <a:gridCol w="6640675">
                  <a:extLst>
                    <a:ext uri="{9D8B030D-6E8A-4147-A177-3AD203B41FA5}">
                      <a16:colId xmlns:a16="http://schemas.microsoft.com/office/drawing/2014/main" val="2094441767"/>
                    </a:ext>
                  </a:extLst>
                </a:gridCol>
                <a:gridCol w="1029441">
                  <a:extLst>
                    <a:ext uri="{9D8B030D-6E8A-4147-A177-3AD203B41FA5}">
                      <a16:colId xmlns:a16="http://schemas.microsoft.com/office/drawing/2014/main" val="242234199"/>
                    </a:ext>
                  </a:extLst>
                </a:gridCol>
                <a:gridCol w="2179477">
                  <a:extLst>
                    <a:ext uri="{9D8B030D-6E8A-4147-A177-3AD203B41FA5}">
                      <a16:colId xmlns:a16="http://schemas.microsoft.com/office/drawing/2014/main" val="2405753991"/>
                    </a:ext>
                  </a:extLst>
                </a:gridCol>
              </a:tblGrid>
              <a:tr h="290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Task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Duration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Deliverable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485326067"/>
                  </a:ext>
                </a:extLst>
              </a:tr>
              <a:tr h="534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Discovery &amp; Proposal Approval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1–2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2273850110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Detailed Current-State Audit — Inventory all BW5 processes, map data flows (</a:t>
                      </a:r>
                      <a:r>
                        <a:rPr lang="en-US" sz="1100" kern="100" dirty="0" err="1">
                          <a:effectLst/>
                        </a:rPr>
                        <a:t>Unity→Luna</a:t>
                      </a:r>
                      <a:r>
                        <a:rPr lang="en-US" sz="1100" kern="100" dirty="0">
                          <a:effectLst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</a:rPr>
                        <a:t>Luna→Unity</a:t>
                      </a:r>
                      <a:r>
                        <a:rPr lang="en-US" sz="1100" kern="100" dirty="0">
                          <a:effectLst/>
                        </a:rPr>
                        <a:t>), document API call volumes, identify all Salesforce objects in scope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3–4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Integration Inventory Document, API Usage Report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207241375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Infrastructure Provisioning — Procure/allocate 3–4 on-prem servers (min 16 cores, 64GB RAM each); install BW6 runtime, TIBCO EMS, configure App Spaces &amp; App Nodes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5–6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Server Build Sheet, BW6 Environment 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5349811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BW5 → BW6 Migration — Auto-migrate eligible processes; manually refactor complex ones; implement Bulk API 2.0 connectors; build JSON-based REST services replacing SOAP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7–12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Migrated BW6 Processes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68434729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 Engineering — Configure multi-AppNode parallelism; implement TIBCO EMS queuing for decoupled ETL; build retry/dead-letter queue logic; tune JVM heap &amp;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10–13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Scalable Architecture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10001630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Error Handling &amp; Monitoring — Implement circuit breakers, configurable retry policies; deploy Prometheus exporters; build Grafana dashboards for throughput, error rate, latency SLAs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12–14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 &amp; Alerting Framework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8389480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Performance Testing &amp; POC Validation — Load test with 1M synthetic records; validate end-to-end throughput; stress test failure scenarios; measure Salesforce API consumption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14–16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Performance Test Report, POC Sign-Off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10156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9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969</Words>
  <Application>Microsoft Office PowerPoint</Application>
  <PresentationFormat>Widescreen</PresentationFormat>
  <Paragraphs>148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Inter</vt:lpstr>
      <vt:lpstr>Symbol</vt:lpstr>
      <vt:lpstr>Office Theme</vt:lpstr>
      <vt:lpstr>Current State Assessment, Bottlenecks </vt:lpstr>
      <vt:lpstr>PowerPoint Presentation</vt:lpstr>
      <vt:lpstr>Key Advantages of BW6 for This Use Case:</vt:lpstr>
      <vt:lpstr>Proposed Scalability Solution, Execution Roadmap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Nageswara Rao Moravaneni</dc:creator>
  <cp:lastModifiedBy>Nageswara Rao Moravaneni</cp:lastModifiedBy>
  <cp:revision>2</cp:revision>
  <dcterms:created xsi:type="dcterms:W3CDTF">2026-03-27T05:13:21Z</dcterms:created>
  <dcterms:modified xsi:type="dcterms:W3CDTF">2026-03-27T18:46:21Z</dcterms:modified>
</cp:coreProperties>
</file>